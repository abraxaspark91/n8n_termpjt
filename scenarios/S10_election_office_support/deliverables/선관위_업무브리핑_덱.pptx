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선거비용 실사·민원대응 업무 브리핑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선거관리위원회 사무보조 업무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업무 개요</a:t>
            </a:r>
          </a:p>
          <a:p>
            <a:r>
              <a:t>실사 절차</a:t>
            </a:r>
          </a:p>
          <a:p>
            <a:r>
              <a:t>민원 분류 기준</a:t>
            </a:r>
          </a:p>
          <a:p>
            <a:r>
              <a:t>에스컬레이션 기준</a:t>
            </a:r>
          </a:p>
          <a:p>
            <a:r>
              <a:t>처리 현황</a:t>
            </a:r>
          </a:p>
          <a:p>
            <a:r>
              <a:t>유의사항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업무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실사보조 업무범위 정의</a:t>
            </a:r>
          </a:p>
          <a:p>
            <a:r>
              <a:t>조사관 지도감독 하 수행</a:t>
            </a:r>
          </a:p>
          <a:p>
            <a:r>
              <a:t>최종판단은 조사관 권한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실사 절차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회계보고서-증빙 1차대조</a:t>
            </a:r>
          </a:p>
          <a:p>
            <a:r>
              <a:t>불일치항목 사유기록</a:t>
            </a:r>
          </a:p>
          <a:p>
            <a:r>
              <a:t>조사관 보고 및 지시대기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민원 분류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방문/전화/온라인 3개 경로</a:t>
            </a:r>
          </a:p>
          <a:p>
            <a:r>
              <a:t>단순문의 vs 법령해석 구분</a:t>
            </a:r>
          </a:p>
          <a:p>
            <a:r>
              <a:t>접수즉시 담당부서 배정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신규쟁점 상급검토 요청</a:t>
            </a:r>
          </a:p>
          <a:p>
            <a:r>
              <a:t>에스컬레이션 접수처·승인권자·목표 처리시간(SLA)은 후속 확정</a:t>
            </a:r>
          </a:p>
          <a:p>
            <a:r>
              <a:t>결과 민원인 통지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처리 현황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처리기한 3일 원칙 적용, 일반민원 7일·법령해석 14일 기준 병행</a:t>
            </a:r>
          </a:p>
          <a:p>
            <a:r>
              <a:t>보고 기준 및 최종 승인권자는 후속 확정</a:t>
            </a:r>
          </a:p>
          <a:p>
            <a:r>
              <a:t>이의신청 필수 에스컬레이션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유의사항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개인정보 목적외 사용금지</a:t>
            </a:r>
          </a:p>
          <a:p>
            <a:r>
              <a:t>자료열람 이력기록</a:t>
            </a:r>
          </a:p>
          <a:p>
            <a:r>
              <a:t>외부반출 사전승인 필수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선거 지원 절차 및 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 문서화</a:t>
            </a:r>
          </a:p>
          <a:p>
            <a:pPr>
              <a:defRPr sz="1400"/>
            </a:pPr>
            <a:r>
              <a:t>지도계 민원 접수·분류·답변 및 유권해석 에스컬레이션 기준 문서화</a:t>
            </a:r>
          </a:p>
          <a:p>
            <a:pPr>
              <a:defRPr sz="1400"/>
            </a:pPr>
            <a:r>
              <a:t>관리계·지도계 업무 인계·협업·기록 공유 기준 정리</a:t>
            </a:r>
          </a:p>
          <a:p>
            <a:pPr>
              <a:defRPr sz="1400"/>
            </a:pPr>
            <a:r>
              <a:t>최종 승인권자·보고 기준, 에스컬레이션 SLA, 보존기간·접근권한은 후속 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기준을 문서화</a:t>
            </a:r>
          </a:p>
          <a:p>
            <a:pPr>
              <a:defRPr sz="1400"/>
            </a:pPr>
            <a:r>
              <a:t>지도계 민원 접수·분류·답변 및 유권해석 에스컬레이션 기준을 문서화</a:t>
            </a:r>
          </a:p>
          <a:p>
            <a:pPr>
              <a:defRPr sz="1400"/>
            </a:pPr>
            <a:r>
              <a:t>관리계·지도계 업무 인계·협업·기록 공유 및 개인정보·민감정보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3일 처리 원칙 및 협업 기준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업무의 범위·절차·역할·기록·보고 기준과 공식 판단·조치의 권한 경계를 명시</a:t>
            </a:r>
          </a:p>
          <a:p>
            <a:pPr>
              <a:defRPr sz="1400"/>
            </a:pPr>
            <a:r>
              <a:t>지도계 민원 접수·분류·답변 및 유권해석 에스컬레이션 기준에 현수막 규격·기부행위 해당여부 문의를 반영</a:t>
            </a:r>
          </a:p>
          <a:p>
            <a:pPr>
              <a:defRPr sz="1400"/>
            </a:pPr>
            <a:r>
              <a:t>현수막 규격·기부행위 해당여부 문의에 3일 처리 원칙 적용</a:t>
            </a:r>
          </a:p>
          <a:p>
            <a:pPr>
              <a:defRPr sz="1400"/>
            </a:pPr>
            <a:r>
              <a:t>관리계·지도계 업무 인계·협업·기록 공유·책임 분담 및 개인정보·민감정보 통제 반영</a:t>
            </a:r>
          </a:p>
          <a:p>
            <a:pPr>
              <a:defRPr sz="1400"/>
            </a:pPr>
            <a:r>
              <a:t>최종 승인권자·공식 접수처·SLA·법적 근거·RACI·보존기간·접근권한·대외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실행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기준과 공식 판단·조치의 권한 경계를 반영</a:t>
            </a:r>
          </a:p>
          <a:p>
            <a:pPr>
              <a:defRPr sz="1400"/>
            </a:pPr>
            <a:r>
              <a:t>지도계 민원 대응 및 유권해석 에스컬레이션 기준에 현수막 규격·기부행위 해당 여부 문의를 반영</a:t>
            </a:r>
          </a:p>
          <a:p>
            <a:pPr>
              <a:defRPr sz="1400"/>
            </a:pPr>
            <a:r>
              <a:t>민원 처리 3일 원칙과 관리계·지도계 인계·협업·기록 공유·개인정보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 및 시행 전 검증 대상으로 유지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확인 및 후속 확정사항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범위·처리 절차·역할·권한 경계·기록·보고 기준을 반영</a:t>
            </a:r>
          </a:p>
          <a:p>
            <a:pPr>
              <a:defRPr sz="1400"/>
            </a:pPr>
            <a:r>
              <a:t>지도계 민원 접수·분류·답변 및 유권해석 에스컬레이션 기준과 현수막 규격·기부행위 해당 여부 문의를 반영</a:t>
            </a:r>
          </a:p>
          <a:p>
            <a:pPr>
              <a:defRPr sz="1400"/>
            </a:pPr>
            <a:r>
              <a:t>관리계·지도계 인계·협업·기록 공유·책임 분담 및 개인정보·민감정보 통제를 반영</a:t>
            </a:r>
          </a:p>
          <a:p>
            <a:pPr>
              <a:defRPr sz="1400"/>
            </a:pPr>
            <a:r>
              <a:t>처리기한 3일 원칙과 관련 요구사항·결정 사항의 산출물 추적성을 반영</a:t>
            </a:r>
          </a:p>
          <a:p>
            <a:pPr>
              <a:defRPr sz="1400"/>
            </a:pPr>
            <a:r>
              <a:t>승인권자·법적 근거·RACI·SLA·보존기간·접근권한·대외 답변 품질관리 책임 및 시행 전 일관성 검증은 후속 확정·검증 대상으로 유지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실행 결과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신규 절차서 3종과 팀 채널 공지문 초안을 추가하고 통합 산출물 3종을 수정</a:t>
            </a:r>
          </a:p>
          <a:p>
            <a:pPr>
              <a:defRPr sz="1400"/>
            </a:pPr>
            <a:r>
              <a:t>관리계 실사 보조와 공식 판단·조치의 최종 판단·승인 주체를 구분</a:t>
            </a:r>
          </a:p>
          <a:p>
            <a:pPr>
              <a:defRPr sz="1400"/>
            </a:pPr>
            <a:r>
              <a:t>지도계 민원 대응·유권해석 에스컬레이션에 현수막 규격·기부행위 해당 여부 문의를 반영</a:t>
            </a:r>
          </a:p>
          <a:p>
            <a:pPr>
              <a:defRPr sz="1400"/>
            </a:pPr>
            <a:r>
              <a:t>처리기한 3일 원칙, 관리계·지도계 인계·기록 공유·개인정보 통제 및 요구사항·결정 사항·산출물 추적성을 반영</a:t>
            </a:r>
          </a:p>
          <a:p>
            <a:pPr>
              <a:defRPr sz="1400"/>
            </a:pPr>
            <a:r>
              <a:t>승인권자·법적 근거·공식 접수처·SLA·RACI·정보보호 통제 및 시행 전 일관성 검증은 후속 확정·검증 대상으로 유지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