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Tesla·Zara 전략 비교 발표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공급망 전략 비교분석 · 케이스스터디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연구 배경</a:t>
            </a:r>
          </a:p>
          <a:p>
            <a:r>
              <a:t>Tesla 사례</a:t>
            </a:r>
          </a:p>
          <a:p>
            <a:r>
              <a:t>Zara 사례</a:t>
            </a:r>
          </a:p>
          <a:p>
            <a:r>
              <a:t>비교분석 프레임워크</a:t>
            </a:r>
          </a:p>
          <a:p>
            <a:r>
              <a:t>시사점</a:t>
            </a:r>
          </a:p>
          <a:p>
            <a:r>
              <a:t>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 배경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공급망 불확실성 심화</a:t>
            </a:r>
          </a:p>
          <a:p>
            <a:r>
              <a:t>내재화 vs 유연화 전략 대비</a:t>
            </a:r>
          </a:p>
          <a:p>
            <a:r>
              <a:t>산업별 전략 적합성 분석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Tesla 사례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배터리/반도체/충전 내재화</a:t>
            </a:r>
          </a:p>
          <a:p>
            <a:r>
              <a:t>원가통제력 확보</a:t>
            </a:r>
          </a:p>
          <a:p>
            <a:r>
              <a:t>대규모 CAPEX 부담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Zara 사례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SPA 모델 운영</a:t>
            </a:r>
          </a:p>
          <a:p>
            <a:r>
              <a:t>매장 데이터 실시간 분석</a:t>
            </a:r>
          </a:p>
          <a:p>
            <a:r>
              <a:t>리드타임 2주 내외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비교분석 프레임워크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수직계열화·내부화·외부 의존도/수요예측 정확도·시장 반응 속도/재고·리드타임·출시 대응 속도/5 Forces·VRIO</a:t>
            </a:r>
          </a:p>
          <a:p>
            <a:r>
              <a:t>자본집약 vs 정보집약</a:t>
            </a:r>
          </a:p>
          <a:p>
            <a:r>
              <a:t>리스크 유형 상이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시사점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산업 특성별 전략 혼합 필요</a:t>
            </a:r>
          </a:p>
          <a:p>
            <a:r>
              <a:t>정량 재무모델 후속 검증 필요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질의응답 세션</a:t>
            </a:r>
          </a:p>
          <a:p>
            <a:r>
              <a:t>추가 자료 요청 안내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 · Tesla·Zara 공급망 및 수요예측 비교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Tesla의 생산·배터리·소프트웨어 통합과 Zara의 생산·유통 통제 및 협력 네트워크를 비교</a:t>
            </a:r>
          </a:p>
          <a:p>
            <a:pPr>
              <a:defRPr sz="1400"/>
            </a:pPr>
            <a:r>
              <a:t>수요예측 방식, 예측 정확도, 시장 반응 속도, 재고 운영과 리드타임·제품 출시 영향을 비교</a:t>
            </a:r>
          </a:p>
          <a:p>
            <a:pPr>
              <a:defRPr sz="1400"/>
            </a:pPr>
            <a:r>
              <a:t>공개 자료의 기준 시점·출처·근거 수준 차이, 비공개 데이터·알고리즘, 산업·제품 특성 차이에 따른 비교·일반화 한계를 명시하고 경영진 메시지는 컴플라이언스 검토를 거친다.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변경사항 — REQ-20260725-tesla-zara-deliverable-update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요청자: IMMS 조교 · 결정: 승인된 비교분석 프레임과 한계·출처 기준을 관련 산출물에 반영했으며, 산출물_설계서.docx·요구사항_추적표.xlsx·보고_장표.pptx는 deliverable_patch 기반 GitHub Actions 문서엔진으로 갱신 완료한 것으로 기록한다.</a:t>
            </a:r>
          </a:p>
          <a:p>
            <a:pPr>
              <a:defRPr sz="1400"/>
            </a:pPr>
            <a:r>
              <a:t>• Tesla와 Zara의 수직계열화 수준, 핵심 활동의 내부화 범위, 외부 공급업체 의존도를 비교한다.</a:t>
            </a:r>
          </a:p>
          <a:p>
            <a:pPr>
              <a:defRPr sz="1400"/>
            </a:pPr>
            <a:r>
              <a:t>• Tesla의 생산·배터리·소프트웨어 중심 통합 방식과 Zara의 빠른 생산·유통 통제 및 협력 네트워크 방식을 대조한다.</a:t>
            </a:r>
          </a:p>
          <a:p>
            <a:pPr>
              <a:defRPr sz="1400"/>
            </a:pPr>
            <a:r>
              <a:t>• 두 기업의 수요예측 방식 차이를 분석하고 예측 정확도, 시장 반응 속도, 재고 운영과의 연계성을 비교한다.</a:t>
            </a:r>
          </a:p>
          <a:p>
            <a:pPr>
              <a:defRPr sz="1400"/>
            </a:pPr>
            <a:r>
              <a:t>• 공급망 구조와 수요예측 방식이 리드타임, 재고, 제품 출시 및 대응 속도에 미치는 영향을 분석 지표로 반영한다.</a:t>
            </a:r>
          </a:p>
          <a:p>
            <a:pPr>
              <a:defRPr sz="1400"/>
            </a:pPr>
            <a:r>
              <a:t>• 각 비교 지표에 공개자료의 기준 시점과 출처를 명시하고, 비공개 운영 데이터 및 알고리즘에 따른 정성 분석 한계를 표기한다.</a:t>
            </a:r>
          </a:p>
          <a:p>
            <a:pPr>
              <a:defRPr sz="1400"/>
            </a:pPr>
            <a:r>
              <a:t>• 산업·제품 특성 차이로 인한 단순 비교 및 일반화의 한계와 cross-module 영향을 관련 설계·추적·요약 산출물에 반영한다.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 · REQ-20260725-tesla-zara-supply-chain-demand-forecast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Tesla와 Zara의 수직계열화 수준, 핵심 활동 내부화 범위 및 외부 공급업체 의존도를 비교</a:t>
            </a:r>
          </a:p>
          <a:p>
            <a:pPr>
              <a:defRPr sz="1400"/>
            </a:pPr>
            <a:r>
              <a:t>Tesla의 생산·배터리·소프트웨어 통합과 Zara의 빠른 생산·유통 통제 및 협력 네트워크를 대조</a:t>
            </a:r>
          </a:p>
          <a:p>
            <a:pPr>
              <a:defRPr sz="1400"/>
            </a:pPr>
            <a:r>
              <a:t>수요예측 방식, 예측 정확도, 시장 반응 속도, 재고 운영, 리드타임 및 제품 출시·대응 속도를 지표화</a:t>
            </a:r>
          </a:p>
          <a:p>
            <a:pPr>
              <a:defRPr sz="1400"/>
            </a:pPr>
            <a:r>
              <a:t>5 Forces·VRIO와 단위경제 비교표를 추가하고 지표 정의·기준 시점·공개자료 출처를 명시</a:t>
            </a:r>
          </a:p>
          <a:p>
            <a:pPr>
              <a:defRPr sz="1400"/>
            </a:pPr>
            <a:r>
              <a:t>비공개 운영 데이터·알고리즘 및 산업·제품 특성 차이에 따른 비교 한계와 cross-module 영향을 반영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 · REQ-20260725-tesla-zara-supply-chain-demand-forecast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Tesla와 Zara의 수직계열화 수준, 핵심 활동 내부화 범위 및 외부 공급업체 의존도를 비교</a:t>
            </a:r>
          </a:p>
          <a:p>
            <a:pPr>
              <a:defRPr sz="1400"/>
            </a:pPr>
            <a:r>
              <a:t>Tesla의 생산·배터리·소프트웨어 통합과 Zara의 빠른 생산·유통 통제 및 협력 네트워크를 대조</a:t>
            </a:r>
          </a:p>
          <a:p>
            <a:pPr>
              <a:defRPr sz="1400"/>
            </a:pPr>
            <a:r>
              <a:t>수요예측 방식, 예측 정확도, 시장 반응 속도, 재고 운영, 리드타임 및 제품 출시·대응 속도를 공통 지표로 반영</a:t>
            </a:r>
          </a:p>
          <a:p>
            <a:pPr>
              <a:defRPr sz="1400"/>
            </a:pPr>
            <a:r>
              <a:t>5 Forces·VRIO와 단위경제 비교표에 지표 정의·동등성 기준·기준 시점·공개자료 출처·근거 수준을 명시</a:t>
            </a:r>
          </a:p>
          <a:p>
            <a:pPr>
              <a:defRPr sz="1400"/>
            </a:pPr>
            <a:r>
              <a:t>비공개 운영 데이터·알고리즘 및 산업·제품 특성 차이에 따른 비교·일반화 한계, 지표 정의·기준 시점·공개자료 출처·근거 수준, 경영진 메시지의 한계 고지와 컴플라이언스 검토를 반영하고 추적 ID REQ-20260725-tesla-zara-deliverable-approval를 기록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 · REQ-20260725-tesla-zara-deliverable-approval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Tesla와 Zara의 수직계열화 수준, 핵심 활동 내부화 범위 및 외부 공급업체 의존도를 비교</a:t>
            </a:r>
          </a:p>
          <a:p>
            <a:pPr>
              <a:defRPr sz="1400"/>
            </a:pPr>
            <a:r>
              <a:t>Tesla의 생산·배터리·소프트웨어 통합과 Zara의 빠른 생산·유통 통제 및 협력 네트워크를 대조</a:t>
            </a:r>
          </a:p>
          <a:p>
            <a:pPr>
              <a:defRPr sz="1400"/>
            </a:pPr>
            <a:r>
              <a:t>수요예측 방식, 예측 정확도, 시장 반응 속도, 재고, 리드타임 및 제품 출시·대응 속도를 공통 지표로 반영</a:t>
            </a:r>
          </a:p>
          <a:p>
            <a:pPr>
              <a:defRPr sz="1400"/>
            </a:pPr>
            <a:r>
              <a:t>5 Forces·VRIO를 적용하고 지표 정의·기준 시점·공개자료 출처·근거 수준을 명시</a:t>
            </a:r>
          </a:p>
          <a:p>
            <a:pPr>
              <a:defRPr sz="1400"/>
            </a:pPr>
            <a:r>
              <a:t>비공개 운영 데이터·알고리즘 및 산업·제품 특성 차이에 따른 비교·일반화 한계와 컴플라이언스 고지를 유지</a:t>
            </a:r>
          </a:p>
          <a:p>
            <a:pPr>
              <a:defRPr sz="1400"/>
            </a:pPr>
            <a:r>
              <a:t>설계서·요구사항 추적표·보고 장표 및 cross-module 변경 범위·영향 관계·추적 ID를 갱신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